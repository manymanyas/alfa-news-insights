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fcd63b3d-bbda-f094-d63e-d75cfe5f70c6}">
          <p14:sldIdLst>
            <p14:sldId id="256"/>
          </p14:sldIdLst>
        </p14:section>
        <p14:section name="Задача и решение" id="{d8938c88-6eb0-ccb8-bf76-0eb62eedf1dd}">
          <p14:sldIdLst>
            <p14:sldId id="257"/>
            <p14:sldId id="258"/>
          </p14:sldIdLst>
        </p14:section>
        <p14:section name="Продукт" id="{39382b3a-94be-92a1-4c01-0c2eaeca6d0d}">
          <p14:sldIdLst>
            <p14:sldId id="259"/>
            <p14:sldId id="260"/>
          </p14:sldIdLst>
        </p14:section>
        <p14:section name="Доказательства" id="{8d458d08-4eb5-3ef4-4d90-b34376a6d70b}">
          <p14:sldIdLst>
            <p14:sldId id="261"/>
            <p14:sldId id="262"/>
          </p14:sldIdLst>
        </p14:section>
        <p14:section name="Внедрение" id="{506d38c5-c256-e9f9-0550-eab33a9b05f7}">
          <p14:sldIdLst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0B0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0B0D"/>
                </a:solidFill>
                <a:latin typeface="+mn-lt"/>
              </a:rPr>
              <a:t>Стоимость шага агента, ₽ (факт по 139 разборам)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₽ за вызов</c:v>
                </c:pt>
              </c:strCache>
            </c:strRef>
          </c:tx>
          <c:spPr>
            <a:solidFill>
              <a:srgbClr val="EF312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0B0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План</c:v>
                  </c:pt>
                  <c:pt idx="1">
                    <c:v>Критик</c:v>
                  </c:pt>
                  <c:pt idx="2">
                    <c:v>Черновик</c:v>
                  </c:pt>
                  <c:pt idx="3">
                    <c:v>Правка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0.09</c:v>
                </c:pt>
                <c:pt idx="1">
                  <c:v>0.5</c:v>
                </c:pt>
                <c:pt idx="2">
                  <c:v>0.7</c:v>
                </c:pt>
                <c:pt idx="3">
                  <c:v>1.01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B0B0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B2B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Бизнес-радар: сервис внутри интернет-банка Альфа-Бизнеса. Показывает не ленту, а что событие значит для конкретной компании.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">
    <p:bg>
      <p:bgPr>
        <a:solidFill>
          <a:srgbClr val="0B0B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0350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56692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онтен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Бизнес-радар · Альфа-Хакатон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77-221-139-69.sslip.io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ManyManyAs/alfa-news-insights" TargetMode="External"/><Relationship Id="rId2" Type="http://schemas.openxmlformats.org/officeDocument/2006/relationships/hyperlink" Target="https://77-221-139-69.sslip.io" TargetMode="Externa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Бизнес-радар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Новости, переведённые в рубли и действия для клиента Альфа-Бизнеса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8521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B9C2"/>
                </a:solidFill>
              </a:rPr>
              <a:t>Альфа-Хакатон 2026 · трек КИБ «Аналитика новостей для бизнес-решений»</a:t>
            </a:r>
            <a:endParaRPr lang="en-US" sz="1400" dirty="0"/>
          </a:p>
        </p:txBody>
      </p:sp>
      <p:pic>
        <p:nvPicPr>
          <p:cNvPr id="5" name="Глобус сигналов" descr="/home/claude/alfa-news-insights/docs/img/00_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1325880"/>
            <a:ext cx="4846320" cy="3026664"/>
          </a:xfrm>
          <a:prstGeom prst="rect">
            <a:avLst/>
          </a:prstGeom>
        </p:spPr>
      </p:pic>
      <p:sp>
        <p:nvSpPr>
          <p:cNvPr id="6" name="Text 3">
            <a:hlinkClick r:id="rId2" tooltip=""/>
          </p:cNvPr>
          <p:cNvSpPr txBox="1"/>
          <p:nvPr/>
        </p:nvSpPr>
        <p:spPr>
          <a:xfrm>
            <a:off x="694944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EF3124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https://77-221-139-69.sslip.io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Клиенту нужна не лента новостей, а ответ «что это значит для меня»</a:t>
            </a:r>
            <a:endParaRPr lang="en-US" sz="2800" dirty="0"/>
          </a:p>
        </p:txBody>
      </p:sp>
      <p:sp>
        <p:nvSpPr>
          <p:cNvPr id="3" name="Боль 1"/>
          <p:cNvSpPr/>
          <p:nvPr/>
        </p:nvSpPr>
        <p:spPr>
          <a:xfrm>
            <a:off x="548640" y="164592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21284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Новостей слишком много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8404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Сотни сообщений в день от ЦБ, агентств и СМИ. У финдиректора нет времени их фильтровать.</a:t>
            </a:r>
            <a:endParaRPr lang="en-US" sz="1500" dirty="0"/>
          </a:p>
        </p:txBody>
      </p:sp>
      <p:sp>
        <p:nvSpPr>
          <p:cNvPr id="8" name="Боль 2"/>
          <p:cNvSpPr/>
          <p:nvPr/>
        </p:nvSpPr>
        <p:spPr>
          <a:xfrm>
            <a:off x="4297680" y="164592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20116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21284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Неясно, касается ли меня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8404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Связь с отраслью, кредитом, ВЭД и контрагентами каждый раз приходится восстанавливать вручную.</a:t>
            </a:r>
            <a:endParaRPr lang="en-US" sz="1500" dirty="0"/>
          </a:p>
        </p:txBody>
      </p:sp>
      <p:sp>
        <p:nvSpPr>
          <p:cNvPr id="13" name="Боль 3"/>
          <p:cNvSpPr/>
          <p:nvPr/>
        </p:nvSpPr>
        <p:spPr>
          <a:xfrm>
            <a:off x="8046720" y="164592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412480" y="2011680"/>
            <a:ext cx="822960" cy="8229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21284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1248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Нет цифр и действий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12480" y="384048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Непонятно, сколько событие стоит в рублях и что делать. Аналитика банка лежит в PDF и до клиента не доходит.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Событие объясняется через профиль конкретной компании</a:t>
            </a:r>
            <a:endParaRPr lang="en-US" sz="2800" dirty="0"/>
          </a:p>
        </p:txBody>
      </p:sp>
      <p:sp>
        <p:nvSpPr>
          <p:cNvPr id="3" name="Шаг 1"/>
          <p:cNvSpPr/>
          <p:nvPr/>
        </p:nvSpPr>
        <p:spPr>
          <a:xfrm>
            <a:off x="548640" y="1600200"/>
            <a:ext cx="2240280" cy="685800"/>
          </a:xfrm>
          <a:prstGeom prst="chevron">
            <a:avLst/>
          </a:prstGeom>
          <a:solidFill>
            <a:srgbClr val="0B0B0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Событие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новость из 15 источников или своя ссылка</a:t>
            </a:r>
            <a:endParaRPr lang="en-US" sz="1400" dirty="0"/>
          </a:p>
        </p:txBody>
      </p:sp>
      <p:sp>
        <p:nvSpPr>
          <p:cNvPr id="6" name="Шаг 2"/>
          <p:cNvSpPr/>
          <p:nvPr/>
        </p:nvSpPr>
        <p:spPr>
          <a:xfrm>
            <a:off x="2807208" y="1600200"/>
            <a:ext cx="2240280" cy="685800"/>
          </a:xfrm>
          <a:prstGeom prst="chevron">
            <a:avLst/>
          </a:prstGeom>
          <a:solidFill>
            <a:srgbClr val="0B0B0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52928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Почему вам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2852928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отрасль, продукты банка, ВЭД, контрагенты из графа платежей, регион</a:t>
            </a:r>
            <a:endParaRPr lang="en-US" sz="1400" dirty="0"/>
          </a:p>
        </p:txBody>
      </p:sp>
      <p:sp>
        <p:nvSpPr>
          <p:cNvPr id="9" name="Шаг 3"/>
          <p:cNvSpPr/>
          <p:nvPr/>
        </p:nvSpPr>
        <p:spPr>
          <a:xfrm>
            <a:off x="5065776" y="1600200"/>
            <a:ext cx="2240280" cy="685800"/>
          </a:xfrm>
          <a:prstGeom prst="chevron">
            <a:avLst/>
          </a:prstGeom>
          <a:solidFill>
            <a:srgbClr val="0B0B0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11496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Риск или возможность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111496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и важность по шкале 0–3</a:t>
            </a:r>
            <a:endParaRPr lang="en-US" sz="1400" dirty="0"/>
          </a:p>
        </p:txBody>
      </p:sp>
      <p:sp>
        <p:nvSpPr>
          <p:cNvPr id="12" name="Шаг 4"/>
          <p:cNvSpPr/>
          <p:nvPr/>
        </p:nvSpPr>
        <p:spPr>
          <a:xfrm>
            <a:off x="7324344" y="1600200"/>
            <a:ext cx="2240280" cy="685800"/>
          </a:xfrm>
          <a:prstGeom prst="chevron">
            <a:avLst/>
          </a:prstGeom>
          <a:solidFill>
            <a:srgbClr val="EF31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70064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Рубли за 12 месяцев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370064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три сценария; база — прогноз Альфа-Банка</a:t>
            </a:r>
            <a:endParaRPr lang="en-US" sz="1400" dirty="0"/>
          </a:p>
        </p:txBody>
      </p:sp>
      <p:sp>
        <p:nvSpPr>
          <p:cNvPr id="15" name="Шаг 5"/>
          <p:cNvSpPr/>
          <p:nvPr/>
        </p:nvSpPr>
        <p:spPr>
          <a:xfrm>
            <a:off x="9582912" y="1600200"/>
            <a:ext cx="2240280" cy="685800"/>
          </a:xfrm>
          <a:prstGeom prst="chevron">
            <a:avLst/>
          </a:prstGeom>
          <a:solidFill>
            <a:srgbClr val="0B0B0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28632" y="24231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Что делать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628632" y="3017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кто и к какому сроку; продукт банка рядом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34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Каждое утверждение помечено и ведёт на первоисточник: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2558B8"/>
          </a:solidFill>
          <a:ln w="12700">
            <a:solidFill>
              <a:srgbClr val="2558B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4937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Факт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063240" y="493776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EF3124"/>
          </a:solidFill>
          <a:ln w="12700">
            <a:solidFill>
              <a:srgbClr val="EF312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63240" y="4937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Позиция Альфа-Банка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577840" y="4937760"/>
            <a:ext cx="2331720" cy="548640"/>
          </a:xfrm>
          <a:prstGeom prst="roundRect">
            <a:avLst>
              <a:gd name="adj" fmla="val 50000"/>
            </a:avLst>
          </a:prstGeom>
          <a:solidFill>
            <a:srgbClr val="6F4AD1"/>
          </a:solidFill>
          <a:ln w="12700">
            <a:solidFill>
              <a:srgbClr val="6F4AD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577840" y="49377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Вывод сервиса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Профили 85 тыс. компаний и граф платежей из данных кейса · 5 ролей пользователя · 77 тезисов и 73 прогноза из 9 материалов банка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Демо: стенд работает на живых моделях и живом потоке новостей</a:t>
            </a:r>
            <a:endParaRPr lang="en-US" sz="2800" dirty="0"/>
          </a:p>
        </p:txBody>
      </p:sp>
      <p:pic>
        <p:nvPicPr>
          <p:cNvPr id="3" name="Лента и разбор" descr="/home/claude/alfa-news-insights/docs/img/03_radar_ins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7315200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183880" y="1417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</a:rPr>
              <a:t>Стенд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30"/>
                </a:solidFill>
              </a:rPr>
              <a:t>https://77-221-139-69.sslip.io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183880" y="23317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</a:rPr>
              <a:t>Вход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30"/>
                </a:solidFill>
              </a:rPr>
              <a:t>любая демо-учётка на экране входа, пароль alfa2026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32461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</a:rPr>
              <a:t>Тур для жюри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30"/>
                </a:solidFill>
              </a:rPr>
              <a:t>9 шагов, сервис сам откроет нужные экраны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41605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</a:rPr>
              <a:t>Проверить новость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30"/>
                </a:solidFill>
              </a:rPr>
              <a:t>вставьте любую свежую новость — разбор с нуля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50749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</a:rPr>
              <a:t>Без интернета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30"/>
                </a:solidFill>
              </a:rPr>
              <a:t>docker compose up: ответы моделей из снапшота, ключ не нужен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Агент собран командой: план, инструменты, черновик, критик, правка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600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B0D"/>
                </a:solidFill>
              </a:rPr>
              <a:t>План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0B0D"/>
                </a:solidFill>
              </a:rPr>
              <a:t>Qwen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423160" y="15544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514600" y="1600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B0D"/>
                </a:solidFill>
              </a:rPr>
              <a:t>Инструменты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0B0D"/>
                </a:solidFill>
              </a:rPr>
              <a:t>правила, allowlist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600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B0D"/>
                </a:solidFill>
              </a:rPr>
              <a:t>Черновик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0B0D"/>
                </a:solidFill>
              </a:rPr>
              <a:t>DeepSeek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172200" y="15544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EF3124"/>
          </a:solidFill>
          <a:ln w="12700">
            <a:solidFill>
              <a:srgbClr val="EF312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600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Критик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GLM — другая модель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0" y="1600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B0D"/>
                </a:solidFill>
              </a:rPr>
              <a:t>Правка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0B0D"/>
                </a:solidFill>
              </a:rPr>
              <a:t>только по делу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921240" y="1554480"/>
            <a:ext cx="1691640" cy="1143000"/>
          </a:xfrm>
          <a:prstGeom prst="roundRect">
            <a:avLst>
              <a:gd name="adj" fmla="val 8000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12680" y="1600200"/>
            <a:ext cx="1508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0B0D"/>
                </a:solidFill>
              </a:rPr>
              <a:t>Очистка</a:t>
            </a:r>
            <a:endParaRPr lang="en-US" sz="17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B0B0D"/>
                </a:solidFill>
              </a:rPr>
              <a:t>без тех. id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54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3124"/>
                </a:solidFill>
              </a:rPr>
              <a:t>0,2 с · ~50 с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77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готовый разбор · новый с нуля (замер стенда)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154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3124"/>
                </a:solidFill>
              </a:rPr>
              <a:t>≤ 4 ₽ · 60 с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3977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бюджет агента на один разбор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31546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F3124"/>
                </a:solidFill>
              </a:rPr>
              <a:t>100%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0" y="39776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разборов проходят самопроверку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66344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2B30"/>
                </a:solidFill>
              </a:rPr>
              <a:t>Деньги считает калькулятор, а не модель.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B2B30"/>
                </a:solidFill>
              </a:rPr>
              <a:t>Если эффект нельзя оценить честно, сервис пишет «заметного влияния не ожидаем».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2B30"/>
                </a:solidFill>
              </a:rPr>
              <a:t>Каждый шаг пишется в трассировку: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B2B30"/>
                </a:solidFill>
              </a:rPr>
              <a:t>вход, выход, модель, токены, стоимость — вкладка «Как получен вывод».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2B2B30"/>
                </a:solidFill>
              </a:rPr>
              <a:t>Модели недоступны или бюджет исчерпан — 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B2B30"/>
                </a:solidFill>
              </a:rPr>
              <a:t>сервис продолжает работать на правилах.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Качество в цифрах: метрики пересчитываются в CI на каждый PR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3124"/>
                </a:solidFill>
              </a:rPr>
              <a:t>0,958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P@3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 топ-3 ленты только релевантное (336 пар)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83280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3124"/>
                </a:solidFill>
              </a:rPr>
              <a:t>0,975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recall@5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971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позиция банка находится, а не выдумывается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3124"/>
                </a:solidFill>
              </a:rPr>
              <a:t>0,939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критичное в топ-10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971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важные события не теряются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052560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81160" y="16916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F3124"/>
                </a:solidFill>
              </a:rPr>
              <a:t>0,835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928116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F1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2971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классификация новостей по факторам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2976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B2B30"/>
                </a:solidFill>
              </a:rPr>
              <a:t>Независимые LLM-судьи на 20 разборах (из 5): GLM 3,86, Kimi 3,33; совпадение ±1 балл — 90–100% по осям; цель 4,2 пока не достигнута.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B2B30"/>
                </a:solidFill>
              </a:rPr>
              <a:t>Регрессия любой метрики больше чем на 0,05 блокирует слияние PR (quality gate).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B2B30"/>
                </a:solidFill>
              </a:rPr>
              <a:t>Ручная проверка 20 разборов по чек-листу и 10 эталонных пар «новость — знак эффекта»: 10 из 10.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Безопасность проверена атаками: офлайн и на живых моделях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206240" cy="4480560"/>
          </a:xfrm>
          <a:prstGeom prst="roundRect">
            <a:avLst>
              <a:gd name="adj" fmla="val 2609"/>
            </a:avLst>
          </a:prstGeom>
          <a:solidFill>
            <a:srgbClr val="0B0B0D"/>
          </a:solidFill>
          <a:ln w="12700">
            <a:solidFill>
              <a:srgbClr val="0B0B0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43 / 43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697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9D1"/>
                </a:solidFill>
              </a:rPr>
              <a:t>офлайн-атаки в CI: инъекции, чат, чужие данные, SSRF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611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F3124"/>
                </a:solidFill>
              </a:rPr>
              <a:t>10 / 10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526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9D1"/>
                </a:solidFill>
              </a:rPr>
              <a:t>живой red-team через реальные модели: docs/llm/redteam_live.md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20640" y="1600200"/>
            <a:ext cx="640080" cy="640080"/>
          </a:xfrm>
          <a:prstGeom prst="ellipse">
            <a:avLst/>
          </a:prstGeom>
          <a:solidFill>
            <a:srgbClr val="EF3124"/>
          </a:solidFill>
          <a:ln w="12700">
            <a:solidFill>
              <a:srgbClr val="EF312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76088" y="175564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943600" y="15544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</a:rPr>
              <a:t>Prompt injection в новостях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30"/>
                </a:solidFill>
              </a:rPr>
              <a:t>очистка текста, флаги атак, критик; атака не попадает в выводы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120640" y="2514600"/>
            <a:ext cx="640080" cy="640080"/>
          </a:xfrm>
          <a:prstGeom prst="ellipse">
            <a:avLst/>
          </a:prstGeom>
          <a:solidFill>
            <a:srgbClr val="EF3124"/>
          </a:solidFill>
          <a:ln w="12700">
            <a:solidFill>
              <a:srgbClr val="EF312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6088" y="26700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943600" y="24688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</a:rPr>
              <a:t>Чужие данные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30"/>
                </a:solidFill>
              </a:rPr>
              <a:t>пользователь видит только свои компании; каждый доступ — в журнале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120640" y="3429000"/>
            <a:ext cx="640080" cy="640080"/>
          </a:xfrm>
          <a:prstGeom prst="ellipse">
            <a:avLst/>
          </a:prstGeom>
          <a:solidFill>
            <a:srgbClr val="EF3124"/>
          </a:solidFill>
          <a:ln w="12700">
            <a:solidFill>
              <a:srgbClr val="EF312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358444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943600" y="33832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</a:rPr>
              <a:t>Загрузка по ссылке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30"/>
                </a:solidFill>
              </a:rPr>
              <a:t>только публичные адреса: внутренняя сеть и file:// закрыты (SSRF)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120640" y="4343400"/>
            <a:ext cx="640080" cy="640080"/>
          </a:xfrm>
          <a:prstGeom prst="ellipse">
            <a:avLst/>
          </a:prstGeom>
          <a:solidFill>
            <a:srgbClr val="EF3124"/>
          </a:solidFill>
          <a:ln w="12700">
            <a:solidFill>
              <a:srgbClr val="EF312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088" y="4498848"/>
            <a:ext cx="329184" cy="32918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943600" y="42976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</a:rPr>
              <a:t>Ключ к моделям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30"/>
                </a:solidFill>
              </a:rPr>
              <a:t>только в GitHub Secrets; не в коде, не в логах, не в браузере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120640" y="5257800"/>
            <a:ext cx="640080" cy="640080"/>
          </a:xfrm>
          <a:prstGeom prst="ellipse">
            <a:avLst/>
          </a:prstGeom>
          <a:solidFill>
            <a:srgbClr val="EF3124"/>
          </a:solidFill>
          <a:ln w="12700">
            <a:solidFill>
              <a:srgbClr val="EF3124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6088" y="541324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943600" y="521208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0B0D"/>
                </a:solidFill>
              </a:rPr>
              <a:t>Веб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B30"/>
                </a:solidFill>
              </a:rPr>
              <a:t>CSP, HttpOnly-сессии, лимиты частоты запросов по пользователю и IP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Экономика: около 4 ₽ на клиента в месяц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56692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1,79 ₽ — полный разбор в среднем (медиана 1,41 ₽)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554480"/>
          <a:ext cx="5029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Клиентов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Модели в месяц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На клиента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D"/>
                          </a:solidFill>
                        </a:rPr>
                        <a:t>10 тыс. клиентов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D"/>
                          </a:solidFill>
                        </a:rPr>
                        <a:t>≈ 41 тыс. ₽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D"/>
                          </a:solidFill>
                        </a:rPr>
                        <a:t>≈ 4,1 ₽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D"/>
                          </a:solidFill>
                        </a:rPr>
                        <a:t>100 тыс.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D"/>
                          </a:solidFill>
                        </a:rPr>
                        <a:t>≈ 386 тыс. ₽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D"/>
                          </a:solidFill>
                        </a:rPr>
                        <a:t>≈ 3,9 ₽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D"/>
                          </a:solidFill>
                        </a:rPr>
                        <a:t>1 млн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D"/>
                          </a:solidFill>
                        </a:rPr>
                        <a:t>≈ 3,8 млн ₽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0B0D"/>
                          </a:solidFill>
                        </a:rPr>
                        <a:t>≈ 3,8 ₽</a:t>
                      </a:r>
                      <a:endParaRPr lang="en-US" sz="1400" dirty="0"/>
                    </a:p>
                  </a:txBody>
                  <a:tcPr marL="73152" marR="73152" marT="73152" marB="73152">
                    <a:lnL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583680" y="365760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B30"/>
                </a:solidFill>
              </a:rPr>
              <a:t>Разбор события строится один раз на всех клиентов, лента ранжируется правилами (0 ₽), разбор кэшируется.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2B2B30"/>
                </a:solidFill>
              </a:rPr>
              <a:t>При масштабе: разбор на сегмент и критик только для важных событий — 1–1,5 ₽ на клиента.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6583680" y="5623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Допущения: 25% клиентов активны, 8 разборов в месяц на активного — docs/ECONOMICS.md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Пилот: 12 недель и решение по обращениям в банк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965960"/>
            <a:ext cx="10515600" cy="0"/>
          </a:xfrm>
          <a:prstGeom prst="line">
            <a:avLst/>
          </a:prstGeom>
          <a:noFill/>
          <a:ln w="25400">
            <a:solidFill>
              <a:srgbClr val="DCDCE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rgbClr val="0B0B0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4231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66"/>
                </a:solidFill>
              </a:rPr>
              <a:t>Недели 1–2</a:t>
            </a:r>
            <a:endParaRPr lang="en-US" sz="1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B0B0D"/>
                </a:solidFill>
              </a:rPr>
              <a:t>Подготовка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2B2B30"/>
                </a:solidFill>
              </a:rPr>
              <a:t>данные клиентов, IAM, юр. проверка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44368" y="1691640"/>
            <a:ext cx="548640" cy="548640"/>
          </a:xfrm>
          <a:prstGeom prst="ellipse">
            <a:avLst/>
          </a:prstGeom>
          <a:solidFill>
            <a:srgbClr val="0B0B0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98648" y="24231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66"/>
                </a:solidFill>
              </a:rPr>
              <a:t>Недели 3</a:t>
            </a:r>
            <a:endParaRPr lang="en-US" sz="1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B0B0D"/>
                </a:solidFill>
              </a:rPr>
              <a:t>Внутренний запуск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2B2B30"/>
                </a:solidFill>
              </a:rPr>
              <a:t>сотрудники и менеджеры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02936" y="1691640"/>
            <a:ext cx="548640" cy="548640"/>
          </a:xfrm>
          <a:prstGeom prst="ellipse">
            <a:avLst/>
          </a:prstGeom>
          <a:solidFill>
            <a:srgbClr val="0B0B0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157216" y="24231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66"/>
                </a:solidFill>
              </a:rPr>
              <a:t>Недели 4–7</a:t>
            </a:r>
            <a:endParaRPr lang="en-US" sz="1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B0B0D"/>
                </a:solidFill>
              </a:rPr>
              <a:t>Волна 1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2B2B30"/>
                </a:solidFill>
              </a:rPr>
              <a:t>1 000 компаний: ВЭД и кредит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61504" y="1691640"/>
            <a:ext cx="548640" cy="548640"/>
          </a:xfrm>
          <a:prstGeom prst="ellipse">
            <a:avLst/>
          </a:prstGeom>
          <a:solidFill>
            <a:srgbClr val="0B0B0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15784" y="24231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66"/>
                </a:solidFill>
              </a:rPr>
              <a:t>Недели 8–11</a:t>
            </a:r>
            <a:endParaRPr lang="en-US" sz="1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B0B0D"/>
                </a:solidFill>
              </a:rPr>
              <a:t>Волна 2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2B2B30"/>
                </a:solidFill>
              </a:rPr>
              <a:t>+1 000: стройка, торговля; push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720072" y="1691640"/>
            <a:ext cx="548640" cy="548640"/>
          </a:xfrm>
          <a:prstGeom prst="ellipse">
            <a:avLst/>
          </a:prstGeom>
          <a:solidFill>
            <a:srgbClr val="EF312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74352" y="242316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5C66"/>
                </a:solidFill>
              </a:rPr>
              <a:t>Недели 12</a:t>
            </a:r>
            <a:endParaRPr lang="en-US" sz="12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B0B0D"/>
                </a:solidFill>
              </a:rPr>
              <a:t>Итоги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2B2B30"/>
                </a:solidFill>
              </a:rPr>
              <a:t>решение о масштабе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4297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D"/>
                </a:solidFill>
              </a:rPr>
              <a:t>≥ 5%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0B0B0D"/>
                </a:solidFill>
              </a:rPr>
              <a:t>CTR виджета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3383280" y="420624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11880" y="4297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D"/>
                </a:solidFill>
              </a:rPr>
              <a:t>≥ 70%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0B0B0D"/>
                </a:solidFill>
              </a:rPr>
              <a:t>Доля 👍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217920" y="420624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F3F3F5"/>
          </a:solidFill>
          <a:ln w="12700">
            <a:solidFill>
              <a:srgbClr val="F3F3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4297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B0D"/>
                </a:solidFill>
              </a:rPr>
              <a:t>≤ 20%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0B0B0D"/>
                </a:solidFill>
              </a:rPr>
              <a:t>Скрытые карточки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9052560" y="4206240"/>
            <a:ext cx="2606040" cy="1280160"/>
          </a:xfrm>
          <a:prstGeom prst="roundRect">
            <a:avLst>
              <a:gd name="adj" fmla="val 7143"/>
            </a:avLst>
          </a:prstGeom>
          <a:solidFill>
            <a:srgbClr val="EF3124"/>
          </a:solidFill>
          <a:ln w="12700">
            <a:solidFill>
              <a:srgbClr val="EF312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81160" y="42976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↑</a:t>
            </a:r>
            <a:endParaRPr lang="en-US" sz="2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Обращения в банк: выше, чем в контрольной группе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Контрольная группа без виджета — чтобы отличить эффект сервиса от сезонности. Все метрики уже собираются: экран «Качество и бюджет».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A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28800"/>
            <a:ext cx="6035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Команда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747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@ManyManyAs · @Takabe11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766560" y="20116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E6E6EA"/>
                </a:solidFill>
              </a:rPr>
              <a:t>Репозиторий: </a:t>
            </a:r>
            <a:pPr indent="0" marL="0">
              <a:spcAft>
                <a:spcPts val="800"/>
              </a:spcAft>
              <a:buNone/>
            </a:pPr>
            <a:r>
              <a:rPr lang="en-US" sz="1500" u="sng" dirty="0">
                <a:solidFill>
                  <a:srgbClr val="E6E6EA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github.com/ManyManyAs/alfa-news-insights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E6E6EA"/>
                </a:solidFill>
              </a:rPr>
              <a:t>Стенд: </a:t>
            </a:r>
            <a:pPr indent="0" marL="0">
              <a:spcAft>
                <a:spcPts val="800"/>
              </a:spcAft>
              <a:buNone/>
            </a:pPr>
            <a:r>
              <a:rPr lang="en-US" sz="1500" u="sng" dirty="0">
                <a:solidFill>
                  <a:srgbClr val="E6E6EA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https://77-221-139-69.sslip.io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E6E6EA"/>
                </a:solidFill>
              </a:rPr>
              <a:t>Пароль демо-учёток: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6E6EA"/>
                </a:solidFill>
              </a:rPr>
              <a:t>alfa2026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E6E6EA"/>
                </a:solidFill>
              </a:rPr>
              <a:t>Документы: </a:t>
            </a:r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E6E6EA"/>
                </a:solidFill>
              </a:rPr>
              <a:t>README · ARCHITECTURE · QUALITY · SECURITY · ECONOMICS · PILOT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577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3124"/>
                </a:solidFill>
              </a:rPr>
              <a:t>Спасибо!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Бизнес-радар">
  <a:themeElements>
    <a:clrScheme name="Бизнес-радар">
      <a:dk1>
        <a:srgbClr val="0B0B0D"/>
      </a:dk1>
      <a:lt1>
        <a:srgbClr val="FFFFFF"/>
      </a:lt1>
      <a:dk2>
        <a:srgbClr val="2B2B30"/>
      </a:dk2>
      <a:lt2>
        <a:srgbClr val="F3F3F5"/>
      </a:lt2>
      <a:accent1>
        <a:srgbClr val="EF3124"/>
      </a:accent1>
      <a:accent2>
        <a:srgbClr val="2558B8"/>
      </a:accent2>
      <a:accent3>
        <a:srgbClr val="6F4AD1"/>
      </a:accent3>
      <a:accent4>
        <a:srgbClr val="1F8A4C"/>
      </a:accent4>
      <a:accent5>
        <a:srgbClr val="8A8A93"/>
      </a:accent5>
      <a:accent6>
        <a:srgbClr val="C4170C"/>
      </a:accent6>
      <a:hlink>
        <a:srgbClr val="2558B8"/>
      </a:hlink>
      <a:folHlink>
        <a:srgbClr val="6F4AD1"/>
      </a:folHlink>
    </a:clrScheme>
    <a:fontScheme name="Бизнес-радар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Бизнес-радар — Альфа-Хакатон 2026</dc:title>
  <dc:subject>PptxGenJS Presentation</dc:subject>
  <dc:creator>Команда «Бизнес-радар»</dc:creator>
  <cp:lastModifiedBy>Команда «Бизнес-радар»</cp:lastModifiedBy>
  <cp:revision>1</cp:revision>
  <dcterms:created xsi:type="dcterms:W3CDTF">2026-10-24T00:52:09Z</dcterms:created>
  <dcterms:modified xsi:type="dcterms:W3CDTF">2026-10-24T00:52:09Z</dcterms:modified>
</cp:coreProperties>
</file>